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A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35"/>
  </p:normalViewPr>
  <p:slideViewPr>
    <p:cSldViewPr snapToGrid="0" snapToObjects="1">
      <p:cViewPr varScale="1">
        <p:scale>
          <a:sx n="115" d="100"/>
          <a:sy n="115" d="100"/>
        </p:scale>
        <p:origin x="7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38D72-7958-3B4B-AF7D-961D532F35E9}" type="datetimeFigureOut">
              <a:rPr lang="en-SE" smtClean="0"/>
              <a:t>2026-09-15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A79FD-7931-C843-BE44-C55B2DC40919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51516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A79FD-7931-C843-BE44-C55B2DC40919}" type="slidenum">
              <a:rPr lang="en-SE" smtClean="0"/>
              <a:t>11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53456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3069877"/>
            <a:ext cx="11581447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 dirty="0" err="1">
                <a:solidFill>
                  <a:srgbClr val="F8FAFC"/>
                </a:solidFill>
                <a:latin typeface="Poppins"/>
              </a:rPr>
              <a:t>Buoyancis</a:t>
            </a:r>
            <a:endParaRPr sz="4800" b="1" i="0" u="none" dirty="0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47874" y="3946128"/>
            <a:ext cx="8096250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Prove you can pay rent — without showing your bank account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19387"/>
            <a:ext cx="5324475" cy="2276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19387"/>
            <a:ext cx="5324475" cy="2276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62287"/>
            <a:ext cx="4870608" cy="333375"/>
          </a:xfrm>
          <a:prstGeom prst="rect">
            <a:avLst/>
          </a:prstGeom>
          <a:noFill/>
        </p:spPr>
        <p:txBody>
          <a:bodyPr wrap="square" lIns="3810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3F5E"/>
                </a:solidFill>
                <a:latin typeface="Poppins SemiBold"/>
              </a:rPr>
              <a:t>Tenant Privacy Nightmare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09962"/>
            <a:ext cx="46386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 dirty="0">
                <a:solidFill>
                  <a:srgbClr val="94A3B8"/>
                </a:solidFill>
                <a:latin typeface="Inter"/>
              </a:rPr>
              <a:t>Some tenants are asked to upload bank statements, which can reveal salary details and sensitive personal spending to letting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62287"/>
            <a:ext cx="4870608" cy="3333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59E0B"/>
                </a:solidFill>
                <a:latin typeface="Poppins SemiBold"/>
              </a:rPr>
              <a:t>Landlord Friction &amp; Fraud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09962"/>
            <a:ext cx="46386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 dirty="0">
                <a:solidFill>
                  <a:srgbClr val="94A3B8"/>
                </a:solidFill>
                <a:latin typeface="Inter"/>
              </a:rPr>
              <a:t>Property managers may spend significant time reviewing financial documents, while PDFs can be difficult to authenticate—adding operational overhead and rental-default risk.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109912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109912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The Rent Verification Bottleneck</a:t>
            </a:r>
          </a:p>
        </p:txBody>
      </p:sp>
      <p:sp>
        <p:nvSpPr>
          <p:cNvPr id="20" name="TextBox WhyNow"/>
          <p:cNvSpPr txBox="1"/>
          <p:nvPr/>
        </p:nvSpPr>
        <p:spPr>
          <a:xfrm>
            <a:off x="581025" y="1247775"/>
            <a:ext cx="11010975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 i="0" u="none">
                <a:solidFill>
                  <a:srgbClr val="38BDF8"/>
                </a:solidFill>
                <a:latin typeface="Inter"/>
              </a:rPr>
              <a:t>Why now: PSD2 Open Banking is live across EU · GDPR expectations are tightening · 3.5M first residence permits were issued to non-EU citizens in the EU in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Mathematical Affordability Proofs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962150"/>
            <a:ext cx="55406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EA5E9"/>
                </a:solidFill>
                <a:latin typeface="Poppins SemiBold"/>
              </a:rPr>
              <a:t>Trust Without Disclosure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409825"/>
            <a:ext cx="52768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Buoyancis leverages Zero-Knowledge Proofs (ZKP) and Open Banking to mathematically verify tenant rent eligibility.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072705"/>
            <a:ext cx="5276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Landlords receive a cryptographically sealed PASS/FAIL verification without seeing raw bank transactions or private income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7875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22002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200275"/>
            <a:ext cx="49434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1. Connect Open Banking: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Tenant securely links bank account via Tink / Plaid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8860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86075"/>
            <a:ext cx="49434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2. Time-Decay Engine: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Parses 90-day cash flow with exponential weighting.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718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571875"/>
            <a:ext cx="49434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00" b="1" i="0" u="none">
                <a:solidFill>
                  <a:srgbClr val="F8FAFC"/>
                </a:solidFill>
                <a:latin typeface="Inter"/>
              </a:rPr>
              <a:t>3. Local ZK Circuit: Computes proof on the tenant device; raw transactions are not uploaded to the Buoyancis server (MVP design).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626864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626864"/>
            <a:ext cx="49434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4. Instant Verification ID: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Landlord verifies proof via single-click dashboard API.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57400"/>
            <a:ext cx="5305425" cy="3600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How Buoyancis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" y="10633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35968"/>
            <a:ext cx="3517850" cy="36433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035968"/>
            <a:ext cx="3517850" cy="36433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035968"/>
            <a:ext cx="3517850" cy="36433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4436268"/>
            <a:ext cx="292730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250" y="4179093"/>
            <a:ext cx="292730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300" y="2959893"/>
            <a:ext cx="307366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EA5E9"/>
                </a:solidFill>
                <a:latin typeface="Poppins SemiBold"/>
              </a:rPr>
              <a:t>Time-Decay Inflows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07568"/>
            <a:ext cx="29273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Applies exponential time-decay weighting to recent 90-day cash flows: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5055393"/>
            <a:ext cx="29273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Prioritizes fresh, stable incoming revenue.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2959893"/>
            <a:ext cx="307366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EA5E9"/>
                </a:solidFill>
                <a:latin typeface="Poppins SemiBold"/>
              </a:rPr>
              <a:t>Heuristic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407568"/>
            <a:ext cx="29273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Detects and excludes round-trip transfers, self-deposits, and temporary loan spikes to prevent balance manipulation.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8250" y="2959893"/>
            <a:ext cx="307366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EA5E9"/>
                </a:solidFill>
                <a:latin typeface="Poppins SemiBold"/>
              </a:rPr>
              <a:t>ZK Rule Circuit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250" y="3407568"/>
            <a:ext cx="292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Verifies affordability rule without exposing balances: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369343"/>
            <a:ext cx="276225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4594919"/>
            <a:ext cx="995213" cy="174724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2275" y="2369343"/>
            <a:ext cx="409575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8250" y="2369343"/>
            <a:ext cx="314325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6850" y="4360068"/>
            <a:ext cx="1891903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Engine &amp; Algorithm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3005137"/>
            <a:ext cx="532447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0" i="0" u="none">
                <a:solidFill>
                  <a:srgbClr val="38BDF8"/>
                </a:solidFill>
                <a:latin typeface="Poppins ExtraBold"/>
              </a:rPr>
              <a:t>€80M+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4148137"/>
            <a:ext cx="53244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8FAFC"/>
                </a:solidFill>
                <a:latin typeface="Inter SemiBold"/>
              </a:rPr>
              <a:t>Serviceable European Rental Verification Market (SAM)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005137"/>
            <a:ext cx="559069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EA5E9"/>
                </a:solidFill>
                <a:latin typeface="Poppins SemiBold"/>
              </a:rPr>
              <a:t>New-Arrival Demand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452812"/>
            <a:ext cx="53244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3.5M first residence permits were issued to non-EU citizens in the EU in 2024; 1.1M were work-related.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4081462"/>
            <a:ext cx="53244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Buoyancis provides instant, fraud-proof verification standard for European property managers and letting agencies.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Market Opportunity</a:t>
            </a:r>
          </a:p>
        </p:txBody>
      </p:sp>
      <p:sp>
        <p:nvSpPr>
          <p:cNvPr id="20" name="TextBox TAMBreakdown"/>
          <p:cNvSpPr txBox="1"/>
          <p:nvPr/>
        </p:nvSpPr>
        <p:spPr>
          <a:xfrm>
            <a:off x="585216" y="4736592"/>
            <a:ext cx="532180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750" b="0" i="0" u="none">
                <a:solidFill>
                  <a:srgbClr val="64748B"/>
                </a:solidFill>
                <a:latin typeface="Inter"/>
              </a:rPr>
              <a:t>TAM: 15M+ EU rental transactions/yr · SAM: ~10M modeled cross-border / international cases · SOM: Nordic market, Year 1
Migration source: Eurostat, Migration and asylum in Europe – 2025 edition (2024 data). TAM/SAM are Buoyancis estimates.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425"/>
            <a:ext cx="12192000" cy="6858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000" b="1">
                <a:solidFill>
                  <a:srgbClr val="F5F8FF"/>
                </a:solidFill>
              </a:defRPr>
            </a:pPr>
            <a:r>
              <a:t>Competitive Landscape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858816"/>
              </p:ext>
            </p:extLst>
          </p:nvPr>
        </p:nvGraphicFramePr>
        <p:xfrm>
          <a:off x="585216" y="2432304"/>
          <a:ext cx="1101852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 marL="73152" marR="73152" marT="36576" marB="36576" anchor="ctr">
                    <a:solidFill>
                      <a:srgbClr val="4C82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Bank Statements</a:t>
                      </a:r>
                    </a:p>
                  </a:txBody>
                  <a:tcPr marL="73152" marR="73152" marT="36576" marB="36576" anchor="ctr">
                    <a:solidFill>
                      <a:srgbClr val="4C82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UC / Samtrygg</a:t>
                      </a:r>
                    </a:p>
                  </a:txBody>
                  <a:tcPr marL="73152" marR="73152" marT="36576" marB="36576" anchor="ctr">
                    <a:solidFill>
                      <a:srgbClr val="4C82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Tink Open Banking</a:t>
                      </a:r>
                    </a:p>
                  </a:txBody>
                  <a:tcPr marL="73152" marR="73152" marT="36576" marB="36576" anchor="ctr">
                    <a:solidFill>
                      <a:srgbClr val="4C82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Buoyancis</a:t>
                      </a:r>
                    </a:p>
                  </a:txBody>
                  <a:tcPr marL="73152" marR="73152" marT="36576" marB="36576" anchor="ctr">
                    <a:solidFill>
                      <a:srgbClr val="3469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C8D6EB"/>
                          </a:solidFill>
                          <a:latin typeface="Aptos"/>
                        </a:defRPr>
                      </a:pPr>
                      <a:r>
                        <a:t>Data disclosure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t>Full document shared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t>Screening data; flow varies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t>Verified income / affordability insights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EEF5FF"/>
                          </a:solidFill>
                          <a:latin typeface="Aptos"/>
                        </a:defRPr>
                      </a:pPr>
                      <a:r>
                        <a:t>Proof can disclose only the required result</a:t>
                      </a:r>
                    </a:p>
                  </a:txBody>
                  <a:tcPr marL="73152" marR="54864" marT="36576" marB="36576" anchor="ctr">
                    <a:solidFill>
                      <a:srgbClr val="1625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C8D6EB"/>
                          </a:solidFill>
                          <a:latin typeface="Aptos"/>
                        </a:defRPr>
                      </a:pPr>
                      <a:r>
                        <a:t>Primary signal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t>Documents + manual review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t>Credit / background screening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t>Bank-linked income &amp; affordability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EEF5FF"/>
                          </a:solidFill>
                          <a:latin typeface="Aptos"/>
                        </a:defRPr>
                      </a:pPr>
                      <a:r>
                        <a:t>Policy-specific financial eligibility</a:t>
                      </a:r>
                    </a:p>
                  </a:txBody>
                  <a:tcPr marL="73152" marR="54864" marT="36576" marB="36576" anchor="ctr">
                    <a:solidFill>
                      <a:srgbClr val="1625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C8D6EB"/>
                          </a:solidFill>
                          <a:latin typeface="Aptos"/>
                        </a:defRPr>
                      </a:pPr>
                      <a:r>
                        <a:t>Cross-border use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t>Manual / fragmented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rPr dirty="0"/>
                        <a:t>Depends on local identity &amp; credit data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t>European bank connectivity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EEF5FF"/>
                          </a:solidFill>
                          <a:latin typeface="Aptos"/>
                        </a:defRPr>
                      </a:pPr>
                      <a:r>
                        <a:t>Designed for cross-border verification</a:t>
                      </a:r>
                    </a:p>
                  </a:txBody>
                  <a:tcPr marL="73152" marR="54864" marT="36576" marB="36576" anchor="ctr">
                    <a:solidFill>
                      <a:srgbClr val="1625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C8D6EB"/>
                          </a:solidFill>
                          <a:latin typeface="Aptos"/>
                        </a:defRPr>
                      </a:pPr>
                      <a:r>
                        <a:t>Speed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rPr lang="sv-SE" dirty="0"/>
                        <a:t>Days </a:t>
                      </a:r>
                      <a:endParaRPr dirty="0"/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t>Screening workflow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8EEFA"/>
                          </a:solidFill>
                          <a:latin typeface="Aptos"/>
                        </a:defRPr>
                      </a:pPr>
                      <a:r>
                        <a:t>Near real-time</a:t>
                      </a:r>
                    </a:p>
                  </a:txBody>
                  <a:tcPr marL="73152" marR="54864" marT="36576" marB="36576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EEF5FF"/>
                          </a:solidFill>
                          <a:latin typeface="Aptos"/>
                        </a:defRPr>
                      </a:pPr>
                      <a:r>
                        <a:rPr dirty="0"/>
                        <a:t>Target: &lt; 60 sec proof verification</a:t>
                      </a:r>
                    </a:p>
                  </a:txBody>
                  <a:tcPr marL="73152" marR="54864" marT="36576" marB="36576" anchor="ctr">
                    <a:solidFill>
                      <a:srgbClr val="1625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612648" y="1417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7C6DE"/>
                </a:solidFill>
                <a:latin typeface="Aptos"/>
              </a:defRPr>
            </a:pPr>
            <a:r>
              <a:t>Buoyancis is not replacing credit checks or open banking — it adds a privacy-preserving proof layer for financial eligibility.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57150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597B4"/>
                </a:solidFill>
                <a:latin typeface="Aptos"/>
              </a:defRPr>
            </a:pPr>
            <a:r>
              <a:t>Sources: Tink Income Check · Samtrygg screening &amp; credit-check process · UC credit information | Buoyancis capabilities are prototype targets.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3838575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7605" y="4095750"/>
            <a:ext cx="266361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sv-SE" sz="1100" b="0" i="0" u="none" dirty="0" err="1">
                <a:solidFill>
                  <a:srgbClr val="38BDF8"/>
                </a:solidFill>
                <a:latin typeface="Poppins SemiBold"/>
              </a:rPr>
              <a:t>Phase 1: Customer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495800"/>
            <a:ext cx="25367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Conduct 12 customer discovery calls with letting agents, landlords &amp; relocation partners.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8614" y="2333625"/>
            <a:ext cx="266361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sv-SE" sz="1100" dirty="0" err="1">
                <a:solidFill>
                  <a:srgbClr val="38BDF8"/>
                </a:solidFill>
                <a:latin typeface="Poppins SemiBold"/>
              </a:rPr>
              <a:t>Phase 2: Architecture &amp;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2033" y="2733675"/>
            <a:ext cx="25367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Build Open Banking integration skeleton &amp; time-decay engine prototype.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622" y="4095750"/>
            <a:ext cx="266361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sv-SE" sz="1100" dirty="0" err="1">
                <a:solidFill>
                  <a:srgbClr val="38BDF8"/>
                </a:solidFill>
                <a:latin typeface="Poppins SemiBold"/>
              </a:rPr>
              <a:t>Phase 3: ZK Circuits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042" y="4495800"/>
            <a:ext cx="25367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Compile Circom/Noir verification circuit &amp; proof generator engine.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0631" y="2333625"/>
            <a:ext cx="266361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sv-SE" sz="1100" dirty="0" err="1">
                <a:solidFill>
                  <a:srgbClr val="38BDF8"/>
                </a:solidFill>
                <a:latin typeface="Poppins SemiBold"/>
              </a:rPr>
              <a:t>Phase 4: Grant &amp;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4050" y="2733675"/>
            <a:ext cx="25367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Submit Vinnova / Almi applications &amp; pitch pilot package to property managers.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81025"/>
            <a:ext cx="11581447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F8FAFC"/>
                </a:solidFill>
                <a:latin typeface="Poppins"/>
              </a:rPr>
              <a:t>Execution Roadmap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54162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85171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16179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47188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00275"/>
            <a:ext cx="5395912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200275"/>
            <a:ext cx="5395912" cy="209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438650"/>
            <a:ext cx="566570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EA5E9"/>
                </a:solidFill>
                <a:latin typeface="Poppins SemiBold"/>
              </a:rPr>
              <a:t>B2B Letting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886325"/>
            <a:ext cx="539591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Charge property managers €3 - €8 per completed verification pass via subscription API tier.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5062" y="4438650"/>
            <a:ext cx="566570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0EA5E9"/>
                </a:solidFill>
                <a:latin typeface="Poppins SemiBold"/>
              </a:rPr>
              <a:t>PropTech</a:t>
            </a:r>
            <a:r>
              <a:rPr sz="1800" b="0" i="0" u="none" dirty="0">
                <a:solidFill>
                  <a:srgbClr val="0EA5E9"/>
                </a:solidFill>
                <a:latin typeface="Poppins SemiBold"/>
              </a:rPr>
              <a:t> Integrations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5062" y="4886325"/>
            <a:ext cx="539591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Embed verification API directly into property listing platforms and applicant tracking systems.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2209800"/>
            <a:ext cx="5376862" cy="2076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4587" y="2209800"/>
            <a:ext cx="5376862" cy="2076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Business Model &amp; Pilots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Team</a:t>
            </a:r>
          </a:p>
        </p:txBody>
      </p:sp>
      <p:sp>
        <p:nvSpPr>
          <p:cNvPr id="4" name="FounderCard"/>
          <p:cNvSpPr/>
          <p:nvPr/>
        </p:nvSpPr>
        <p:spPr>
          <a:xfrm>
            <a:off x="581025" y="1400000"/>
            <a:ext cx="5000000" cy="4200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endParaRPr/>
          </a:p>
        </p:txBody>
      </p:sp>
      <p:sp>
        <p:nvSpPr>
          <p:cNvPr id="5" name="FounderName"/>
          <p:cNvSpPr txBox="1"/>
          <p:nvPr/>
        </p:nvSpPr>
        <p:spPr>
          <a:xfrm>
            <a:off x="781025" y="1600000"/>
            <a:ext cx="46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F8FAFC"/>
                </a:solidFill>
                <a:latin typeface="Poppins SemiBold"/>
              </a:rPr>
              <a:t>Jiahao Zhang</a:t>
            </a:r>
          </a:p>
        </p:txBody>
      </p:sp>
      <p:sp>
        <p:nvSpPr>
          <p:cNvPr id="6" name="FounderRole"/>
          <p:cNvSpPr txBox="1"/>
          <p:nvPr/>
        </p:nvSpPr>
        <p:spPr>
          <a:xfrm>
            <a:off x="781025" y="2050000"/>
            <a:ext cx="460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38BDF8"/>
                </a:solidFill>
                <a:latin typeface="Inter"/>
              </a:rPr>
              <a:t>Founder &amp; CEO · </a:t>
            </a:r>
            <a:r>
              <a:rPr sz="1400" b="0" i="0" u="none" dirty="0" err="1">
                <a:solidFill>
                  <a:srgbClr val="38BDF8"/>
                </a:solidFill>
                <a:latin typeface="Inter"/>
              </a:rPr>
              <a:t>BlackPalace</a:t>
            </a:r>
            <a:r>
              <a:rPr sz="1400" b="0" i="0" u="none" dirty="0">
                <a:solidFill>
                  <a:srgbClr val="38BDF8"/>
                </a:solidFill>
                <a:latin typeface="Inter"/>
              </a:rPr>
              <a:t> AB</a:t>
            </a:r>
            <a:r>
              <a:rPr lang="en-US" sz="1400" dirty="0">
                <a:solidFill>
                  <a:srgbClr val="38BDF8"/>
                </a:solidFill>
                <a:latin typeface="Inter"/>
              </a:rPr>
              <a:t> </a:t>
            </a:r>
            <a:r>
              <a:rPr lang="sv-SE" sz="1400" dirty="0">
                <a:solidFill>
                  <a:srgbClr val="38BDF8"/>
                </a:solidFill>
                <a:latin typeface="Inter"/>
              </a:rPr>
              <a:t>(</a:t>
            </a:r>
            <a:r>
              <a:rPr lang="sv-SE" sz="1400" dirty="0" err="1">
                <a:solidFill>
                  <a:srgbClr val="38BDF8"/>
                </a:solidFill>
                <a:latin typeface="Inter"/>
              </a:rPr>
              <a:t>Buoyancis</a:t>
            </a:r>
            <a:r>
              <a:rPr lang="sv-SE" sz="1400" dirty="0">
                <a:solidFill>
                  <a:srgbClr val="38BDF8"/>
                </a:solidFill>
                <a:latin typeface="Inter"/>
              </a:rPr>
              <a:t>)</a:t>
            </a:r>
            <a:endParaRPr sz="1400" b="0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7" name="FounderBio"/>
          <p:cNvSpPr txBox="1"/>
          <p:nvPr/>
        </p:nvSpPr>
        <p:spPr>
          <a:xfrm>
            <a:off x="781025" y="2450000"/>
            <a:ext cx="4600000" cy="2028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•</a:t>
            </a:r>
            <a:r>
              <a:rPr lang="sv-SE" sz="1200" b="0" i="0" u="none" dirty="0">
                <a:solidFill>
                  <a:srgbClr val="94A3B8"/>
                </a:solidFill>
                <a:latin typeface="Inter"/>
              </a:rPr>
              <a:t> B.S Business </a:t>
            </a:r>
            <a:r>
              <a:rPr lang="sv-SE" sz="1200" b="0" i="0" u="none" dirty="0" err="1">
                <a:solidFill>
                  <a:srgbClr val="94A3B8"/>
                </a:solidFill>
                <a:latin typeface="Inter"/>
              </a:rPr>
              <a:t>Economics</a:t>
            </a:r>
            <a:r>
              <a:rPr lang="sv-SE" sz="1200" b="0" i="0" u="none" dirty="0">
                <a:solidFill>
                  <a:srgbClr val="94A3B8"/>
                </a:solidFill>
                <a:latin typeface="Inter"/>
              </a:rPr>
              <a:t> – </a:t>
            </a:r>
            <a:r>
              <a:rPr lang="sv-SE" sz="1200" b="0" i="0" u="none" dirty="0" err="1">
                <a:solidFill>
                  <a:srgbClr val="94A3B8"/>
                </a:solidFill>
                <a:latin typeface="Inter"/>
              </a:rPr>
              <a:t>Entrepreneurship</a:t>
            </a:r>
            <a:r>
              <a:rPr lang="sv-SE" sz="1200" dirty="0">
                <a:solidFill>
                  <a:srgbClr val="94A3B8"/>
                </a:solidFill>
                <a:latin typeface="Inter"/>
              </a:rPr>
              <a:t>, Bentley University</a:t>
            </a:r>
          </a:p>
          <a:p>
            <a:pPr>
              <a:lnSpc>
                <a:spcPts val="2000"/>
              </a:lnSpc>
            </a:pPr>
            <a:r>
              <a:rPr lang="en-SE" sz="1200" dirty="0">
                <a:solidFill>
                  <a:srgbClr val="94A3B8"/>
                </a:solidFill>
                <a:latin typeface="Inter"/>
              </a:rPr>
              <a:t>• 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BSc Computer Science &amp; Engineering, KTH Royal Institute of Technology</a:t>
            </a:r>
          </a:p>
          <a:p>
            <a:pPr algn="l">
              <a:lnSpc>
                <a:spcPts val="20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• Coursework: Applied Cryptography (DD2520), Computer Security (DD2395), Privacy Enhancing Technologies (DD2496), Distributed Systems (ID2201)</a:t>
            </a:r>
          </a:p>
          <a:p>
            <a:pPr algn="l">
              <a:lnSpc>
                <a:spcPts val="20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• Thesis: Privacy-Preserving Cross-Border Trust Mapping with Time-Decaying Weights</a:t>
            </a:r>
          </a:p>
          <a:p>
            <a:pPr algn="l">
              <a:lnSpc>
                <a:spcPts val="20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•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BlackPalace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AB registered entity in Sweden</a:t>
            </a:r>
          </a:p>
        </p:txBody>
      </p:sp>
      <p:sp>
        <p:nvSpPr>
          <p:cNvPr id="8" name="CoFounderCard"/>
          <p:cNvSpPr/>
          <p:nvPr/>
        </p:nvSpPr>
        <p:spPr>
          <a:xfrm>
            <a:off x="6286500" y="1400000"/>
            <a:ext cx="5524475" cy="42000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endParaRPr/>
          </a:p>
        </p:txBody>
      </p:sp>
      <p:sp>
        <p:nvSpPr>
          <p:cNvPr id="9" name="CoFounderHeading"/>
          <p:cNvSpPr txBox="1"/>
          <p:nvPr/>
        </p:nvSpPr>
        <p:spPr>
          <a:xfrm>
            <a:off x="6486500" y="1600000"/>
            <a:ext cx="5124475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F8FAFC"/>
                </a:solidFill>
                <a:latin typeface="Poppins SemiBold"/>
              </a:rPr>
              <a:t>Seeking Co-founder</a:t>
            </a:r>
          </a:p>
        </p:txBody>
      </p:sp>
      <p:sp>
        <p:nvSpPr>
          <p:cNvPr id="10" name="CoFounderRole"/>
          <p:cNvSpPr txBox="1"/>
          <p:nvPr/>
        </p:nvSpPr>
        <p:spPr>
          <a:xfrm>
            <a:off x="6486500" y="2050000"/>
            <a:ext cx="512447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A78BFA"/>
                </a:solidFill>
                <a:latin typeface="Inter"/>
              </a:rPr>
              <a:t>Lead ZKP Engineer · CTO Role</a:t>
            </a:r>
          </a:p>
        </p:txBody>
      </p:sp>
      <p:sp>
        <p:nvSpPr>
          <p:cNvPr id="11" name="CoFounderReqs"/>
          <p:cNvSpPr txBox="1"/>
          <p:nvPr/>
        </p:nvSpPr>
        <p:spPr>
          <a:xfrm>
            <a:off x="6486500" y="2450000"/>
            <a:ext cx="5124475" cy="2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• Circom / Noir / Halo2 ZK circuit experience</a:t>
            </a:r>
          </a:p>
          <a:p>
            <a:pPr algn="l">
              <a:lnSpc>
                <a:spcPts val="20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• Rust or TypeScript backend development</a:t>
            </a:r>
          </a:p>
          <a:p>
            <a:pPr algn="l">
              <a:lnSpc>
                <a:spcPts val="20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• 4-year vesting + 1-year cliff equity structure</a:t>
            </a:r>
          </a:p>
          <a:p>
            <a:pPr algn="l">
              <a:lnSpc>
                <a:spcPts val="20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• Interested in FinTech / privacy infrastructure</a:t>
            </a:r>
          </a:p>
          <a:p>
            <a:pPr algn="l">
              <a:lnSpc>
                <a:spcPts val="2000"/>
              </a:lnSpc>
            </a:pPr>
            <a:r>
              <a:rPr sz="1200" b="1" i="0" u="none">
                <a:solidFill>
                  <a:srgbClr val="38BDF8"/>
                </a:solidFill>
                <a:latin typeface="Inter"/>
              </a:rPr>
              <a:t>Contact: jiazhang718@gmail.com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581025"/>
            <a:ext cx="11581447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>
                <a:solidFill>
                  <a:srgbClr val="F8FAFC"/>
                </a:solidFill>
                <a:latin typeface="Poppins"/>
              </a:rPr>
              <a:t>Join Buoyancis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1743075"/>
            <a:ext cx="11029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Looking for pilot property managers in Stockholm — and Vinnova / Almi grant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466975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zh-TW" sz="1500" b="0" i="0" u="none" dirty="0">
                <a:solidFill>
                  <a:srgbClr val="38BDF8"/>
                </a:solidFill>
                <a:latin typeface="Inter SemiBold"/>
              </a:rPr>
              <a:t>jiazhang718@gmail.com</a:t>
            </a:r>
            <a:r>
              <a:rPr sz="1500" b="0" i="0" u="none" dirty="0">
                <a:solidFill>
                  <a:srgbClr val="38BDF8"/>
                </a:solidFill>
                <a:latin typeface="Inter SemiBold"/>
              </a:rPr>
              <a:t>| Stockholm, Sweden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233612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3005137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3776662"/>
            <a:ext cx="1102995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29956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29956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7671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7671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47101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7101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76487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76400" y="2383631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https://st2.depositphotos.com/23455380/86145/i/450/depositphotos_861451708-stock-photo-abstract-digital-network-wave-background.jpg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2616993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depositphotos.com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14801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76400" y="3155156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https://cdn.box.co.uk/.renditions/wysiwyg/samsung-smartphone-screen-lock-vs-network-lock.jpg_1.jpg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3388518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box.co.uk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05262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6400" y="3919537"/>
            <a:ext cx="99345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https://img.magnific.com/premium-photo/apartment-residential-building-exterior-housing-structure-blue-modern-house-europe-rental-home-city-district-summer-architecture-business-property-investment-vilnius-lithuania_250132-3777.jpg?w=360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4338637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www.freepik.com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862512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76400" y="4869656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https://stewartvaluation.com/wp-content/uploads/2022/04/Female-working-with-homebuyer-couple.jpg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5103018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stewartvaluation.com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856</Words>
  <Application>Microsoft Macintosh PowerPoint</Application>
  <PresentationFormat>Widescreen</PresentationFormat>
  <Paragraphs>106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Inter</vt:lpstr>
      <vt:lpstr>Inter SemiBold</vt:lpstr>
      <vt:lpstr>Aptos</vt:lpstr>
      <vt:lpstr>Arial</vt:lpstr>
      <vt:lpstr>Calibri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Zhang, Jiahao</cp:lastModifiedBy>
  <cp:revision>11</cp:revision>
  <dcterms:created xsi:type="dcterms:W3CDTF">2013-01-27T09:14:16Z</dcterms:created>
  <dcterms:modified xsi:type="dcterms:W3CDTF">2026-09-15T15:39:26Z</dcterms:modified>
  <cp:category/>
</cp:coreProperties>
</file>